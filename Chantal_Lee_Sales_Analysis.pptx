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3" r:id="rId1"/>
  </p:sldMasterIdLst>
  <p:sldIdLst>
    <p:sldId id="256" r:id="rId2"/>
    <p:sldId id="267" r:id="rId3"/>
    <p:sldId id="260" r:id="rId4"/>
    <p:sldId id="262" r:id="rId5"/>
    <p:sldId id="265" r:id="rId6"/>
    <p:sldId id="263" r:id="rId7"/>
    <p:sldId id="261" r:id="rId8"/>
    <p:sldId id="264" r:id="rId9"/>
    <p:sldId id="259" r:id="rId10"/>
    <p:sldId id="269" r:id="rId11"/>
    <p:sldId id="268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A130"/>
    <a:srgbClr val="D4F2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2B79D1-DB92-E422-C391-8EE2F63D4283}" v="101" dt="2026-04-30T17:05:39.594"/>
    <p1510:client id="{49C731CC-9A70-4FDA-7646-D38AD9A2122D}" v="913" dt="2026-05-01T00:17:23.605"/>
    <p1510:client id="{665CBAA8-3F7F-874F-1BEE-E0BB078D9D83}" v="1298" dt="2026-05-01T05:47:48.834"/>
    <p1510:client id="{DA3721BF-096D-42D2-F7AD-6CBA19D495F3}" v="1333" dt="2026-05-01T01:37:39.0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6DFF08F-DC6B-4601-B491-B0F83F6DD2DA}" type="datetimeFigureOut">
              <a:rPr lang="en-US" dirty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3676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669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3925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902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0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996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412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93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872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606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218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022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29C8102-0F8D-3997-3577-94D51BAABFA5}"/>
              </a:ext>
            </a:extLst>
          </p:cNvPr>
          <p:cNvSpPr txBox="1"/>
          <p:nvPr/>
        </p:nvSpPr>
        <p:spPr>
          <a:xfrm rot="960000">
            <a:off x="-1957137" y="4247147"/>
            <a:ext cx="9938084" cy="33239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rtl="0"/>
            <a:r>
              <a:rPr lang="en-US" sz="9600">
                <a:solidFill>
                  <a:srgbClr val="94A130"/>
                </a:solidFill>
                <a:latin typeface="Bell MT"/>
                <a:ea typeface="Segoe UI"/>
                <a:cs typeface="Segoe UI"/>
              </a:rPr>
              <a:t>3x</a:t>
            </a:r>
            <a:r>
              <a:rPr lang="en-US" sz="9600" b="0" i="0" u="none" strike="noStrike" baseline="0">
                <a:solidFill>
                  <a:srgbClr val="94A130"/>
                </a:solidFill>
                <a:latin typeface="Bell MT"/>
                <a:ea typeface="Segoe UI"/>
                <a:cs typeface="Segoe UI"/>
              </a:rPr>
              <a:t> +</a:t>
            </a:r>
            <a:r>
              <a:rPr lang="en-US" sz="9600">
                <a:solidFill>
                  <a:srgbClr val="94A130"/>
                </a:solidFill>
                <a:latin typeface="Bell MT"/>
                <a:ea typeface="Segoe UI"/>
                <a:cs typeface="Segoe UI"/>
              </a:rPr>
              <a:t>643</a:t>
            </a:r>
            <a:r>
              <a:rPr lang="en-US" sz="9600" b="0" i="0" u="none" strike="noStrike" baseline="0">
                <a:solidFill>
                  <a:srgbClr val="94A130"/>
                </a:solidFill>
                <a:latin typeface="Bell MT"/>
                <a:ea typeface="Segoe UI"/>
                <a:cs typeface="Segoe UI"/>
              </a:rPr>
              <a:t> =</a:t>
            </a:r>
            <a:r>
              <a:rPr lang="en-US" sz="9600">
                <a:solidFill>
                  <a:srgbClr val="94A130"/>
                </a:solidFill>
                <a:latin typeface="Bell MT"/>
                <a:ea typeface="Segoe UI"/>
                <a:cs typeface="Segoe UI"/>
              </a:rPr>
              <a:t>3454</a:t>
            </a:r>
            <a:endParaRPr lang="en-US" sz="9600" b="0" i="0">
              <a:solidFill>
                <a:srgbClr val="94A130"/>
              </a:solidFill>
              <a:latin typeface="Bell MT"/>
              <a:ea typeface="Segoe UI"/>
              <a:cs typeface="Segoe UI"/>
            </a:endParaRPr>
          </a:p>
          <a:p>
            <a:pPr algn="ctr" rtl="0"/>
            <a:r>
              <a:rPr lang="en-US" sz="9600" b="0" i="0" u="none" strike="noStrike" baseline="0">
                <a:solidFill>
                  <a:srgbClr val="94A130"/>
                </a:solidFill>
                <a:latin typeface="Bell MT"/>
                <a:ea typeface="Segoe UI"/>
                <a:cs typeface="Segoe UI"/>
              </a:rPr>
              <a:t>X+</a:t>
            </a:r>
            <a:r>
              <a:rPr lang="en-US" sz="9600">
                <a:solidFill>
                  <a:srgbClr val="94A130"/>
                </a:solidFill>
                <a:latin typeface="Bell MT"/>
                <a:ea typeface="Segoe UI"/>
                <a:cs typeface="Segoe UI"/>
              </a:rPr>
              <a:t>5u(t-5</a:t>
            </a:r>
            <a:r>
              <a:rPr lang="en-US" sz="9600" b="0" i="0" u="none" strike="noStrike" baseline="0">
                <a:solidFill>
                  <a:srgbClr val="94A130"/>
                </a:solidFill>
                <a:latin typeface="Bell MT"/>
                <a:ea typeface="Segoe UI"/>
                <a:cs typeface="Segoe UI"/>
              </a:rPr>
              <a:t>%) = 7</a:t>
            </a:r>
            <a:r>
              <a:rPr lang="en-US" sz="9600" b="0" i="0">
                <a:solidFill>
                  <a:srgbClr val="94A130"/>
                </a:solidFill>
                <a:latin typeface="Bell MT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A9144B1D-7F96-DF7B-DA61-AB0736747007}"/>
              </a:ext>
            </a:extLst>
          </p:cNvPr>
          <p:cNvSpPr txBox="1">
            <a:spLocks/>
          </p:cNvSpPr>
          <p:nvPr/>
        </p:nvSpPr>
        <p:spPr>
          <a:xfrm rot="20400000">
            <a:off x="-1728459" y="-440697"/>
            <a:ext cx="9551426" cy="303437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None/>
              <a:defRPr sz="2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None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None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None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None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None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None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None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None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600">
                <a:solidFill>
                  <a:schemeClr val="accent1">
                    <a:lumMod val="76000"/>
                  </a:schemeClr>
                </a:solidFill>
                <a:latin typeface="Bell MT"/>
              </a:rPr>
              <a:t>2x +2 = 4</a:t>
            </a:r>
          </a:p>
          <a:p>
            <a:r>
              <a:rPr lang="en-US" sz="9600">
                <a:solidFill>
                  <a:schemeClr val="accent1">
                    <a:lumMod val="76000"/>
                  </a:schemeClr>
                </a:solidFill>
                <a:latin typeface="Bell MT"/>
              </a:rPr>
              <a:t>X+58(3+65%) = 7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anchor="b">
            <a:noAutofit/>
          </a:bodyPr>
          <a:lstStyle/>
          <a:p>
            <a:r>
              <a:rPr lang="en-US" sz="8800"/>
              <a:t>Sales projections:</a:t>
            </a:r>
            <a:br>
              <a:rPr lang="en-US" sz="8800"/>
            </a:br>
            <a:r>
              <a:rPr lang="en-US" sz="8800"/>
              <a:t>East Region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/>
              <a:t>By Chantal Lee</a:t>
            </a:r>
          </a:p>
        </p:txBody>
      </p:sp>
      <p:sp>
        <p:nvSpPr>
          <p:cNvPr id="25" name="Date Placeholder 3">
            <a:extLst>
              <a:ext uri="{FF2B5EF4-FFF2-40B4-BE49-F238E27FC236}">
                <a16:creationId xmlns:a16="http://schemas.microsoft.com/office/drawing/2014/main" id="{94AAFD6A-E01C-4D83-5ED3-AD6649FD1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684DCD5-6AB7-4F11-A76B-FC6D035C0D8A}" type="datetime1">
              <a:rPr lang="en-US"/>
              <a:pPr>
                <a:spcAft>
                  <a:spcPts val="600"/>
                </a:spcAft>
              </a:pPr>
              <a:t>4/30/2026</a:t>
            </a:fld>
            <a:endParaRPr lang="en-US"/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00AD74AF-0523-355D-743B-FD3DE18CB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6F5495-8760-FED0-4BB5-35A2C266218E}"/>
              </a:ext>
            </a:extLst>
          </p:cNvPr>
          <p:cNvSpPr txBox="1"/>
          <p:nvPr/>
        </p:nvSpPr>
        <p:spPr>
          <a:xfrm rot="-1500000">
            <a:off x="2861096" y="5389051"/>
            <a:ext cx="14636150" cy="10464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400">
                <a:solidFill>
                  <a:schemeClr val="accent1">
                    <a:lumMod val="76000"/>
                  </a:schemeClr>
                </a:solidFill>
                <a:latin typeface="Bell MT"/>
                <a:cs typeface="Segoe UI"/>
              </a:rPr>
              <a:t>SELECT * FROM East </a:t>
            </a:r>
            <a:endParaRPr lang="en-US" sz="4400">
              <a:solidFill>
                <a:schemeClr val="accent1">
                  <a:lumMod val="76000"/>
                </a:schemeClr>
              </a:solidFill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F100E-B2AF-4946-8F01-A0725D049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057400"/>
            <a:ext cx="9872871" cy="276325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800">
                <a:solidFill>
                  <a:schemeClr val="accent1">
                    <a:lumMod val="76000"/>
                  </a:schemeClr>
                </a:solidFill>
              </a:rPr>
              <a:t>We should provide more visibility and promotions to Books (General)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800" dirty="0">
                <a:solidFill>
                  <a:schemeClr val="accent1">
                    <a:lumMod val="76000"/>
                  </a:schemeClr>
                </a:solidFill>
              </a:rPr>
              <a:t>Stationery Supplies by cross-selling </a:t>
            </a:r>
            <a:r>
              <a:rPr lang="en-US" sz="4800">
                <a:solidFill>
                  <a:schemeClr val="accent1">
                    <a:lumMod val="76000"/>
                  </a:schemeClr>
                </a:solidFill>
              </a:rPr>
              <a:t>during the Fall.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85D579E-2914-040C-C084-2306BF3711AB}"/>
              </a:ext>
            </a:extLst>
          </p:cNvPr>
          <p:cNvSpPr txBox="1">
            <a:spLocks/>
          </p:cNvSpPr>
          <p:nvPr/>
        </p:nvSpPr>
        <p:spPr>
          <a:xfrm>
            <a:off x="1143000" y="712890"/>
            <a:ext cx="9872871" cy="64569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buNone/>
            </a:pPr>
            <a:r>
              <a:rPr lang="en-US" sz="4800"/>
              <a:t>My Thoughts</a:t>
            </a:r>
            <a:endParaRPr lang="en-US" sz="4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0E47E9-286C-1127-4C6A-FB7B611DD95A}"/>
              </a:ext>
            </a:extLst>
          </p:cNvPr>
          <p:cNvSpPr/>
          <p:nvPr/>
        </p:nvSpPr>
        <p:spPr>
          <a:xfrm>
            <a:off x="2880994" y="337550"/>
            <a:ext cx="6401336" cy="1379412"/>
          </a:xfrm>
          <a:prstGeom prst="rect">
            <a:avLst/>
          </a:prstGeom>
          <a:noFill/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3AA542-240B-C64D-C76C-85017A35E265}"/>
              </a:ext>
            </a:extLst>
          </p:cNvPr>
          <p:cNvSpPr/>
          <p:nvPr/>
        </p:nvSpPr>
        <p:spPr>
          <a:xfrm>
            <a:off x="3043387" y="624861"/>
            <a:ext cx="6401336" cy="1379412"/>
          </a:xfrm>
          <a:prstGeom prst="rect">
            <a:avLst/>
          </a:prstGeom>
          <a:noFill/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F2AF04-FF9D-D46D-C7B2-A89D6AF993E6}"/>
              </a:ext>
            </a:extLst>
          </p:cNvPr>
          <p:cNvSpPr/>
          <p:nvPr/>
        </p:nvSpPr>
        <p:spPr>
          <a:xfrm rot="2640000">
            <a:off x="-1164205" y="5429343"/>
            <a:ext cx="3490747" cy="1954036"/>
          </a:xfrm>
          <a:prstGeom prst="rect">
            <a:avLst/>
          </a:prstGeom>
          <a:noFill/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9A4296-531A-6ED5-034B-278E2108156A}"/>
              </a:ext>
            </a:extLst>
          </p:cNvPr>
          <p:cNvSpPr/>
          <p:nvPr/>
        </p:nvSpPr>
        <p:spPr>
          <a:xfrm rot="8160000">
            <a:off x="-1276631" y="-641674"/>
            <a:ext cx="3490747" cy="1954036"/>
          </a:xfrm>
          <a:prstGeom prst="rect">
            <a:avLst/>
          </a:prstGeom>
          <a:noFill/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4A02AD-4D1D-05BB-1AAF-C73058895499}"/>
              </a:ext>
            </a:extLst>
          </p:cNvPr>
          <p:cNvSpPr/>
          <p:nvPr/>
        </p:nvSpPr>
        <p:spPr>
          <a:xfrm rot="2640000">
            <a:off x="10178353" y="-641674"/>
            <a:ext cx="3490747" cy="1954036"/>
          </a:xfrm>
          <a:prstGeom prst="rect">
            <a:avLst/>
          </a:prstGeom>
          <a:noFill/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FF3DAD6-5325-9313-FEB6-F36BD341C746}"/>
              </a:ext>
            </a:extLst>
          </p:cNvPr>
          <p:cNvSpPr/>
          <p:nvPr/>
        </p:nvSpPr>
        <p:spPr>
          <a:xfrm rot="-2700000">
            <a:off x="9616222" y="5416851"/>
            <a:ext cx="3490747" cy="1954036"/>
          </a:xfrm>
          <a:prstGeom prst="rect">
            <a:avLst/>
          </a:prstGeom>
          <a:noFill/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181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2F02A-C565-4E61-78AD-20878A620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7982" y="2751826"/>
            <a:ext cx="9875520" cy="1356360"/>
          </a:xfrm>
        </p:spPr>
        <p:txBody>
          <a:bodyPr>
            <a:noAutofit/>
          </a:bodyPr>
          <a:lstStyle/>
          <a:p>
            <a:pPr algn="ctr"/>
            <a:r>
              <a:rPr lang="en-US" sz="4800"/>
              <a:t>We'll be looking at the data from 1/1/2022 - 12-31-2025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512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32943-D448-F7E1-E2EF-8DE2C528B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650" y="503208"/>
            <a:ext cx="9875520" cy="1356360"/>
          </a:xfrm>
        </p:spPr>
        <p:txBody>
          <a:bodyPr/>
          <a:lstStyle/>
          <a:p>
            <a:r>
              <a:rPr lang="en-US" sz="4000"/>
              <a:t>Total Revenue For East Region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D163B-40C5-B7F5-AD5B-288D32082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057400"/>
            <a:ext cx="5540104" cy="196525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ea typeface="+mn-lt"/>
                <a:cs typeface="+mn-lt"/>
              </a:rPr>
              <a:t>2022:</a:t>
            </a:r>
            <a:r>
              <a:rPr lang="en-US">
                <a:ea typeface="+mn-lt"/>
                <a:cs typeface="+mn-lt"/>
              </a:rPr>
              <a:t> Mostly ~$85K–$100K/month 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2023:</a:t>
            </a:r>
            <a:r>
              <a:rPr lang="en-US">
                <a:ea typeface="+mn-lt"/>
                <a:cs typeface="+mn-lt"/>
              </a:rPr>
              <a:t> Jumps to ~$120K–$140K/month 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2024:</a:t>
            </a:r>
            <a:r>
              <a:rPr lang="en-US">
                <a:ea typeface="+mn-lt"/>
                <a:cs typeface="+mn-lt"/>
              </a:rPr>
              <a:t> Stabilizes ~$120K–$150K/month 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2025:</a:t>
            </a:r>
            <a:r>
              <a:rPr lang="en-US">
                <a:ea typeface="+mn-lt"/>
                <a:cs typeface="+mn-lt"/>
              </a:rPr>
              <a:t> Huge jump to ~$175K–$300K/month</a:t>
            </a:r>
            <a:endParaRPr lang="en-US"/>
          </a:p>
        </p:txBody>
      </p:sp>
      <p:pic>
        <p:nvPicPr>
          <p:cNvPr id="6" name="Picture 5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74827B65-5F87-6C74-06D2-9DF5730F2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1494" y="1600059"/>
            <a:ext cx="4262871" cy="2433205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A46ED5B-2AC4-2C44-34BF-D1F030F3774E}"/>
              </a:ext>
            </a:extLst>
          </p:cNvPr>
          <p:cNvSpPr txBox="1">
            <a:spLocks/>
          </p:cNvSpPr>
          <p:nvPr/>
        </p:nvSpPr>
        <p:spPr>
          <a:xfrm>
            <a:off x="3910470" y="4481996"/>
            <a:ext cx="5443343" cy="40496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None/>
            </a:pPr>
            <a:r>
              <a:rPr lang="en-US" b="1" dirty="0">
                <a:latin typeface="Lucida Sans"/>
                <a:ea typeface="+mn-lt"/>
                <a:cs typeface="+mn-lt"/>
              </a:rPr>
              <a:t>Over 600k increase </a:t>
            </a:r>
            <a:r>
              <a:rPr lang="en-US" b="1" err="1">
                <a:latin typeface="Lucida Sans"/>
                <a:ea typeface="+mn-lt"/>
                <a:cs typeface="+mn-lt"/>
              </a:rPr>
              <a:t>fro</a:t>
            </a:r>
            <a:r>
              <a:rPr lang="en-US" b="1">
                <a:latin typeface="Lucida Sans"/>
                <a:ea typeface="+mn-lt"/>
                <a:cs typeface="+mn-lt"/>
              </a:rPr>
              <a:t>m 2024 to 2025</a:t>
            </a:r>
            <a:endParaRPr lang="en-US">
              <a:latin typeface="Lucida Sans"/>
            </a:endParaRPr>
          </a:p>
        </p:txBody>
      </p:sp>
      <p:pic>
        <p:nvPicPr>
          <p:cNvPr id="7" name="Picture 6" descr="A green chart with white text&#10;&#10;AI-generated content may be incorrect.">
            <a:extLst>
              <a:ext uri="{FF2B5EF4-FFF2-40B4-BE49-F238E27FC236}">
                <a16:creationId xmlns:a16="http://schemas.microsoft.com/office/drawing/2014/main" id="{274D944D-70B9-F4A0-6645-F02117A977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003" y="4218743"/>
            <a:ext cx="3563711" cy="1976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549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3EA9B91-666B-00CC-EF1D-4ED393500B07}"/>
              </a:ext>
            </a:extLst>
          </p:cNvPr>
          <p:cNvSpPr/>
          <p:nvPr/>
        </p:nvSpPr>
        <p:spPr>
          <a:xfrm>
            <a:off x="1077628" y="452517"/>
            <a:ext cx="9936080" cy="1487179"/>
          </a:xfrm>
          <a:prstGeom prst="rect">
            <a:avLst/>
          </a:prstGeom>
          <a:noFill/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D8E71B-7273-FD71-F067-44FB5910B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/>
              <a:t>Total Revenue Comparison by State vs. Region</a:t>
            </a: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3E551B2-6733-D3BC-4DFA-A0F52046E432}"/>
              </a:ext>
            </a:extLst>
          </p:cNvPr>
          <p:cNvSpPr txBox="1">
            <a:spLocks/>
          </p:cNvSpPr>
          <p:nvPr/>
        </p:nvSpPr>
        <p:spPr>
          <a:xfrm>
            <a:off x="8872268" y="2602302"/>
            <a:ext cx="1723558" cy="6374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/>
              <a:t>East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C878C7B-8B03-6806-0AFC-44F63B5D9DC9}"/>
              </a:ext>
            </a:extLst>
          </p:cNvPr>
          <p:cNvSpPr txBox="1">
            <a:spLocks/>
          </p:cNvSpPr>
          <p:nvPr/>
        </p:nvSpPr>
        <p:spPr>
          <a:xfrm>
            <a:off x="4712518" y="2430379"/>
            <a:ext cx="2456804" cy="9537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/>
              <a:t>Connecticut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31A6401-0EE9-902B-2B62-C880C6CBFF92}"/>
              </a:ext>
            </a:extLst>
          </p:cNvPr>
          <p:cNvSpPr txBox="1">
            <a:spLocks/>
          </p:cNvSpPr>
          <p:nvPr/>
        </p:nvSpPr>
        <p:spPr>
          <a:xfrm>
            <a:off x="1140125" y="2432648"/>
            <a:ext cx="1982351" cy="9825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/>
              <a:t>New York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32D5CE-B403-BFEB-2852-0BA394C600C2}"/>
              </a:ext>
            </a:extLst>
          </p:cNvPr>
          <p:cNvSpPr txBox="1"/>
          <p:nvPr/>
        </p:nvSpPr>
        <p:spPr>
          <a:xfrm>
            <a:off x="1147011" y="3236495"/>
            <a:ext cx="207745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Total = 4,330,817.09</a:t>
            </a:r>
          </a:p>
          <a:p>
            <a:pPr algn="ctr"/>
            <a:r>
              <a:rPr lang="en-US"/>
              <a:t>Average = 139.53</a:t>
            </a:r>
          </a:p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C39346-3EC7-5BAC-81E8-F2EAB86E5DA7}"/>
              </a:ext>
            </a:extLst>
          </p:cNvPr>
          <p:cNvSpPr txBox="1"/>
          <p:nvPr/>
        </p:nvSpPr>
        <p:spPr>
          <a:xfrm>
            <a:off x="4900864" y="3236495"/>
            <a:ext cx="2085474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Total = 2,392,222.44</a:t>
            </a:r>
          </a:p>
          <a:p>
            <a:pPr algn="ctr"/>
            <a:r>
              <a:rPr lang="en-US"/>
              <a:t>Average = 137.66</a:t>
            </a:r>
          </a:p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914F58-079F-1CB6-9469-C7FD725F94A3}"/>
              </a:ext>
            </a:extLst>
          </p:cNvPr>
          <p:cNvSpPr txBox="1"/>
          <p:nvPr/>
        </p:nvSpPr>
        <p:spPr>
          <a:xfrm>
            <a:off x="8582527" y="3244516"/>
            <a:ext cx="250256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Total = 6,723,039.53 </a:t>
            </a:r>
          </a:p>
          <a:p>
            <a:pPr algn="ctr"/>
            <a:r>
              <a:rPr lang="en-US"/>
              <a:t>Average =</a:t>
            </a:r>
            <a:r>
              <a:rPr lang="en-US">
                <a:ea typeface="+mn-lt"/>
                <a:cs typeface="+mn-lt"/>
              </a:rPr>
              <a:t> 138.85</a:t>
            </a:r>
            <a:endParaRPr lang="en-US"/>
          </a:p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CFD507F-9D7A-D0E6-AFA4-CB108F7B273D}"/>
              </a:ext>
            </a:extLst>
          </p:cNvPr>
          <p:cNvGrpSpPr/>
          <p:nvPr/>
        </p:nvGrpSpPr>
        <p:grpSpPr>
          <a:xfrm>
            <a:off x="390775" y="4162174"/>
            <a:ext cx="11142246" cy="2046872"/>
            <a:chOff x="390775" y="4162174"/>
            <a:chExt cx="11142246" cy="2046872"/>
          </a:xfrm>
        </p:grpSpPr>
        <p:pic>
          <p:nvPicPr>
            <p:cNvPr id="12" name="Picture 11" descr="A screenshot of a computer code&#10;&#10;AI-generated content may be incorrect.">
              <a:extLst>
                <a:ext uri="{FF2B5EF4-FFF2-40B4-BE49-F238E27FC236}">
                  <a16:creationId xmlns:a16="http://schemas.microsoft.com/office/drawing/2014/main" id="{8CEC2937-88CA-36B1-764C-EB6BFB1201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34602" y="4162174"/>
              <a:ext cx="3398419" cy="2046872"/>
            </a:xfrm>
            <a:prstGeom prst="rect">
              <a:avLst/>
            </a:prstGeom>
          </p:spPr>
        </p:pic>
        <p:pic>
          <p:nvPicPr>
            <p:cNvPr id="13" name="Picture 12" descr="A screenshot of a computer code&#10;&#10;AI-generated content may be incorrect.">
              <a:extLst>
                <a:ext uri="{FF2B5EF4-FFF2-40B4-BE49-F238E27FC236}">
                  <a16:creationId xmlns:a16="http://schemas.microsoft.com/office/drawing/2014/main" id="{CB324099-E70A-B50F-69A4-2345397D24B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54428" y="4320088"/>
              <a:ext cx="3475122" cy="1739065"/>
            </a:xfrm>
            <a:prstGeom prst="rect">
              <a:avLst/>
            </a:prstGeom>
          </p:spPr>
        </p:pic>
        <p:pic>
          <p:nvPicPr>
            <p:cNvPr id="14" name="Picture 13" descr="A screenshot of a computer code&#10;&#10;AI-generated content may be incorrect.">
              <a:extLst>
                <a:ext uri="{FF2B5EF4-FFF2-40B4-BE49-F238E27FC236}">
                  <a16:creationId xmlns:a16="http://schemas.microsoft.com/office/drawing/2014/main" id="{61A0BDBA-E143-A8E3-6577-8C9B9D013EB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0775" y="4377238"/>
              <a:ext cx="3597944" cy="1680912"/>
            </a:xfrm>
            <a:prstGeom prst="rect">
              <a:avLst/>
            </a:prstGeom>
          </p:spPr>
        </p:pic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86626B76-14FC-28BA-5F70-FCF4A1F92034}"/>
              </a:ext>
            </a:extLst>
          </p:cNvPr>
          <p:cNvSpPr/>
          <p:nvPr/>
        </p:nvSpPr>
        <p:spPr>
          <a:xfrm>
            <a:off x="1221401" y="596290"/>
            <a:ext cx="9936080" cy="1487179"/>
          </a:xfrm>
          <a:prstGeom prst="rect">
            <a:avLst/>
          </a:prstGeom>
          <a:noFill/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56DDD5C-D01E-CDB7-E674-089ECA09E452}"/>
              </a:ext>
            </a:extLst>
          </p:cNvPr>
          <p:cNvSpPr/>
          <p:nvPr/>
        </p:nvSpPr>
        <p:spPr>
          <a:xfrm>
            <a:off x="1365175" y="740064"/>
            <a:ext cx="9936080" cy="1487179"/>
          </a:xfrm>
          <a:prstGeom prst="rect">
            <a:avLst/>
          </a:prstGeom>
          <a:noFill/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656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D272E-FEAD-ED12-D665-EF7D3761A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959369"/>
            <a:ext cx="4441586" cy="656821"/>
          </a:xfrm>
        </p:spPr>
        <p:txBody>
          <a:bodyPr>
            <a:normAutofit fontScale="90000"/>
          </a:bodyPr>
          <a:lstStyle/>
          <a:p>
            <a:r>
              <a:rPr lang="en-US"/>
              <a:t>Month by Month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EE2302-A740-198C-5C38-6A0FCCD2DF2B}"/>
              </a:ext>
            </a:extLst>
          </p:cNvPr>
          <p:cNvSpPr txBox="1"/>
          <p:nvPr/>
        </p:nvSpPr>
        <p:spPr>
          <a:xfrm>
            <a:off x="6092821" y="767296"/>
            <a:ext cx="6096000" cy="40318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Courier New"/>
              <a:buChar char="o"/>
            </a:pPr>
            <a:r>
              <a:rPr lang="en-US" sz="2000">
                <a:solidFill>
                  <a:srgbClr val="A6B727"/>
                </a:solidFill>
              </a:rPr>
              <a:t>Early year dip between January and February</a:t>
            </a:r>
          </a:p>
          <a:p>
            <a:pPr marL="342900" indent="-342900">
              <a:buFont typeface="Courier New"/>
              <a:buChar char="o"/>
            </a:pPr>
            <a:endParaRPr lang="en-US" sz="2000">
              <a:solidFill>
                <a:srgbClr val="A6B727"/>
              </a:solidFill>
            </a:endParaRPr>
          </a:p>
          <a:p>
            <a:pPr marL="342900" indent="-342900">
              <a:buFont typeface="Courier New"/>
              <a:buChar char="o"/>
            </a:pPr>
            <a:endParaRPr lang="en-US" sz="2000">
              <a:solidFill>
                <a:srgbClr val="A6B727"/>
              </a:solidFill>
            </a:endParaRPr>
          </a:p>
          <a:p>
            <a:pPr marL="342900" indent="-342900">
              <a:buFont typeface="Courier New"/>
              <a:buChar char="o"/>
            </a:pPr>
            <a:endParaRPr lang="en-US" sz="2000">
              <a:solidFill>
                <a:srgbClr val="A6B727"/>
              </a:solidFill>
            </a:endParaRPr>
          </a:p>
          <a:p>
            <a:pPr marL="342900" indent="-342900">
              <a:buFont typeface="Courier New"/>
              <a:buChar char="o"/>
            </a:pPr>
            <a:endParaRPr lang="en-US" sz="2000">
              <a:solidFill>
                <a:srgbClr val="A6B727"/>
              </a:solidFill>
            </a:endParaRPr>
          </a:p>
          <a:p>
            <a:pPr marL="342900" indent="-342900">
              <a:buFont typeface="Courier New"/>
              <a:buChar char="o"/>
            </a:pPr>
            <a:r>
              <a:rPr lang="en-US" sz="2000">
                <a:solidFill>
                  <a:srgbClr val="A6B727"/>
                </a:solidFill>
              </a:rPr>
              <a:t>Mid-year stability between March and August</a:t>
            </a:r>
          </a:p>
          <a:p>
            <a:pPr marL="342900" indent="-342900">
              <a:buFont typeface="Courier New"/>
              <a:buChar char="o"/>
            </a:pPr>
            <a:endParaRPr lang="en-US" sz="2000">
              <a:solidFill>
                <a:srgbClr val="A6B727"/>
              </a:solidFill>
            </a:endParaRPr>
          </a:p>
          <a:p>
            <a:pPr marL="342900" indent="-342900">
              <a:buFont typeface="Courier New"/>
              <a:buChar char="o"/>
            </a:pPr>
            <a:endParaRPr lang="en-US" sz="2000">
              <a:solidFill>
                <a:srgbClr val="A6B727"/>
              </a:solidFill>
            </a:endParaRPr>
          </a:p>
          <a:p>
            <a:pPr marL="342900" indent="-342900">
              <a:buFont typeface="Courier New"/>
              <a:buChar char="o"/>
            </a:pPr>
            <a:endParaRPr lang="en-US" sz="2000">
              <a:solidFill>
                <a:srgbClr val="A6B727"/>
              </a:solidFill>
            </a:endParaRPr>
          </a:p>
          <a:p>
            <a:pPr marL="342900" indent="-342900">
              <a:buFont typeface="Courier New"/>
              <a:buChar char="o"/>
            </a:pPr>
            <a:endParaRPr lang="en-US" sz="2000">
              <a:solidFill>
                <a:srgbClr val="A6B727"/>
              </a:solidFill>
            </a:endParaRPr>
          </a:p>
          <a:p>
            <a:pPr marL="342900" indent="-342900">
              <a:buFont typeface="Courier New"/>
              <a:buChar char="o"/>
            </a:pPr>
            <a:r>
              <a:rPr lang="en-US" sz="2000">
                <a:solidFill>
                  <a:srgbClr val="A6B727"/>
                </a:solidFill>
              </a:rPr>
              <a:t>And fall spikes between September and October</a:t>
            </a:r>
            <a:endParaRPr lang="en-US" sz="2000"/>
          </a:p>
          <a:p>
            <a:pPr algn="ctr"/>
            <a:endParaRPr lang="en-US"/>
          </a:p>
          <a:p>
            <a:pPr algn="ctr"/>
            <a:endParaRPr lang="en-US"/>
          </a:p>
        </p:txBody>
      </p:sp>
      <p:pic>
        <p:nvPicPr>
          <p:cNvPr id="6" name="Picture 5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5C67F239-AD90-85AC-483E-D9E498F62D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9165" y="4439151"/>
            <a:ext cx="3541796" cy="21506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52913FF-9662-C56F-AE39-9B5FA9FA2526}"/>
              </a:ext>
            </a:extLst>
          </p:cNvPr>
          <p:cNvSpPr txBox="1"/>
          <p:nvPr/>
        </p:nvSpPr>
        <p:spPr>
          <a:xfrm>
            <a:off x="1663057" y="1711957"/>
            <a:ext cx="341026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sz="2200">
                <a:solidFill>
                  <a:srgbClr val="A6B727"/>
                </a:solidFill>
                <a:latin typeface="Corbel"/>
                <a:ea typeface="Arial"/>
                <a:cs typeface="Arial"/>
              </a:rPr>
              <a:t>Patterns Start to Emerge</a:t>
            </a:r>
            <a:endParaRPr lang="en-US" sz="2200">
              <a:latin typeface="Corbel"/>
              <a:ea typeface="Arial"/>
              <a:cs typeface="Arial"/>
            </a:endParaRPr>
          </a:p>
          <a:p>
            <a:pPr algn="ctr"/>
            <a:endParaRPr lang="en-US"/>
          </a:p>
        </p:txBody>
      </p:sp>
      <p:pic>
        <p:nvPicPr>
          <p:cNvPr id="8" name="Picture 7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A13B1CDF-3DE2-8535-4AED-A8FE63C069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932" y="4654717"/>
            <a:ext cx="3937335" cy="1791703"/>
          </a:xfrm>
          <a:prstGeom prst="rect">
            <a:avLst/>
          </a:prstGeom>
        </p:spPr>
      </p:pic>
      <p:pic>
        <p:nvPicPr>
          <p:cNvPr id="12" name="Picture 11" descr="A group of pumpkins with leaves&#10;&#10;AI-generated content may be incorrect.">
            <a:extLst>
              <a:ext uri="{FF2B5EF4-FFF2-40B4-BE49-F238E27FC236}">
                <a16:creationId xmlns:a16="http://schemas.microsoft.com/office/drawing/2014/main" id="{3110FEBA-19BB-6E5F-8F93-3966A117BB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3301" y="2418522"/>
            <a:ext cx="3398877" cy="1979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302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72C3672-FA45-9F26-D3F8-965B65C3E6F4}"/>
              </a:ext>
            </a:extLst>
          </p:cNvPr>
          <p:cNvSpPr txBox="1">
            <a:spLocks/>
          </p:cNvSpPr>
          <p:nvPr/>
        </p:nvSpPr>
        <p:spPr>
          <a:xfrm>
            <a:off x="1275614" y="436979"/>
            <a:ext cx="7914307" cy="13313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Performance Sales Rank by Store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D0726E-D750-EFE6-50D1-378CD53A3D36}"/>
              </a:ext>
            </a:extLst>
          </p:cNvPr>
          <p:cNvSpPr txBox="1"/>
          <p:nvPr/>
        </p:nvSpPr>
        <p:spPr>
          <a:xfrm>
            <a:off x="1150189" y="1717470"/>
            <a:ext cx="6096000" cy="240065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/>
              <a:t>New York </a:t>
            </a:r>
          </a:p>
          <a:p>
            <a:endParaRPr lang="en-US"/>
          </a:p>
          <a:p>
            <a:r>
              <a:rPr lang="en-US" u="sng"/>
              <a:t>Top Performing Store:</a:t>
            </a:r>
          </a:p>
          <a:p>
            <a:endParaRPr lang="en-US"/>
          </a:p>
          <a:p>
            <a:r>
              <a:rPr lang="en-US"/>
              <a:t>Store 850</a:t>
            </a:r>
          </a:p>
          <a:p>
            <a:r>
              <a:rPr lang="en-US"/>
              <a:t>Location: New York, New York </a:t>
            </a:r>
          </a:p>
          <a:p>
            <a:r>
              <a:rPr lang="en-US"/>
              <a:t>Region: East</a:t>
            </a:r>
          </a:p>
          <a:p>
            <a:r>
              <a:rPr lang="en-US"/>
              <a:t>Price: $621,565.02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F260A3-E823-95EA-08E7-6C9F5A19A250}"/>
              </a:ext>
            </a:extLst>
          </p:cNvPr>
          <p:cNvSpPr txBox="1"/>
          <p:nvPr/>
        </p:nvSpPr>
        <p:spPr>
          <a:xfrm>
            <a:off x="1150189" y="4302425"/>
            <a:ext cx="60960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u="sng"/>
              <a:t>Lowest Performing Store: </a:t>
            </a:r>
          </a:p>
          <a:p>
            <a:endParaRPr lang="en-US"/>
          </a:p>
          <a:p>
            <a:r>
              <a:rPr lang="en-US"/>
              <a:t>Store 851</a:t>
            </a:r>
          </a:p>
          <a:p>
            <a:r>
              <a:rPr lang="en-US"/>
              <a:t>Location: Queens, New York</a:t>
            </a:r>
          </a:p>
          <a:p>
            <a:r>
              <a:rPr lang="en-US"/>
              <a:t>Region: East</a:t>
            </a:r>
          </a:p>
          <a:p>
            <a:r>
              <a:rPr lang="en-US"/>
              <a:t>$288,553.14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A5F035-1F06-A7D1-9A6C-D02D75012FEE}"/>
              </a:ext>
            </a:extLst>
          </p:cNvPr>
          <p:cNvSpPr txBox="1"/>
          <p:nvPr/>
        </p:nvSpPr>
        <p:spPr>
          <a:xfrm>
            <a:off x="6854058" y="1719524"/>
            <a:ext cx="3899171" cy="240065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/>
              <a:t>Connecticut</a:t>
            </a:r>
          </a:p>
          <a:p>
            <a:endParaRPr lang="en-US" u="sng"/>
          </a:p>
          <a:p>
            <a:r>
              <a:rPr lang="en-US" u="sng"/>
              <a:t>Top Performing Store:</a:t>
            </a:r>
            <a:endParaRPr lang="en-US"/>
          </a:p>
          <a:p>
            <a:endParaRPr lang="en-US"/>
          </a:p>
          <a:p>
            <a:r>
              <a:rPr lang="en-US"/>
              <a:t>Store 870</a:t>
            </a:r>
          </a:p>
          <a:p>
            <a:r>
              <a:rPr lang="en-US"/>
              <a:t>Location: New London, Connecticut</a:t>
            </a:r>
          </a:p>
          <a:p>
            <a:r>
              <a:rPr lang="en-US"/>
              <a:t>Region: East</a:t>
            </a:r>
          </a:p>
          <a:p>
            <a:r>
              <a:rPr lang="en-US"/>
              <a:t>Price: $331,116.76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642237-5141-18EE-2411-A7F9E7EEF030}"/>
              </a:ext>
            </a:extLst>
          </p:cNvPr>
          <p:cNvSpPr txBox="1"/>
          <p:nvPr/>
        </p:nvSpPr>
        <p:spPr>
          <a:xfrm>
            <a:off x="6854057" y="4303426"/>
            <a:ext cx="3898995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u="sng"/>
              <a:t>Lowest Performing Store:</a:t>
            </a:r>
          </a:p>
          <a:p>
            <a:endParaRPr lang="en-US" u="sng"/>
          </a:p>
          <a:p>
            <a:r>
              <a:rPr lang="en-US"/>
              <a:t>Store 871</a:t>
            </a:r>
          </a:p>
          <a:p>
            <a:r>
              <a:rPr lang="en-US"/>
              <a:t>Location: Old Saybrook, Connecticut</a:t>
            </a:r>
          </a:p>
          <a:p>
            <a:r>
              <a:rPr lang="en-US"/>
              <a:t>Region: East</a:t>
            </a:r>
          </a:p>
          <a:p>
            <a:r>
              <a:rPr lang="en-US"/>
              <a:t>Price: $277,310.18</a:t>
            </a:r>
          </a:p>
        </p:txBody>
      </p:sp>
    </p:spTree>
    <p:extLst>
      <p:ext uri="{BB962C8B-B14F-4D97-AF65-F5344CB8AC3E}">
        <p14:creationId xmlns:p14="http://schemas.microsoft.com/office/powerpoint/2010/main" val="1422559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87DC6-69AE-18CD-B37B-B633A1963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582" y="610823"/>
            <a:ext cx="6374280" cy="636785"/>
          </a:xfrm>
        </p:spPr>
        <p:txBody>
          <a:bodyPr>
            <a:normAutofit/>
          </a:bodyPr>
          <a:lstStyle/>
          <a:p>
            <a:r>
              <a:rPr lang="en-US" sz="3200" u="sng"/>
              <a:t>Number of transactions per month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85E68CC-5952-CD4E-FFC9-B116E7B50E27}"/>
              </a:ext>
            </a:extLst>
          </p:cNvPr>
          <p:cNvSpPr txBox="1">
            <a:spLocks/>
          </p:cNvSpPr>
          <p:nvPr/>
        </p:nvSpPr>
        <p:spPr>
          <a:xfrm>
            <a:off x="7197659" y="611906"/>
            <a:ext cx="3804504" cy="6443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u="sng"/>
              <a:t>Average by category</a:t>
            </a:r>
          </a:p>
        </p:txBody>
      </p:sp>
      <p:pic>
        <p:nvPicPr>
          <p:cNvPr id="4" name="Picture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842CCA09-4A03-6759-4FF4-33863444E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726" y="2977576"/>
            <a:ext cx="3861636" cy="2507582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3C56054-87ED-0928-D157-B03B2DACF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52" y="2654478"/>
            <a:ext cx="1546058" cy="28168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FE70785-AFCA-7288-495D-363A0C2BB143}"/>
              </a:ext>
            </a:extLst>
          </p:cNvPr>
          <p:cNvSpPr txBox="1"/>
          <p:nvPr/>
        </p:nvSpPr>
        <p:spPr>
          <a:xfrm>
            <a:off x="515427" y="1417817"/>
            <a:ext cx="513347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94A130"/>
                </a:solidFill>
              </a:rPr>
              <a:t>Has reached and steadied in the thousands in 2025</a:t>
            </a:r>
          </a:p>
          <a:p>
            <a:r>
              <a:rPr lang="en-US" dirty="0">
                <a:solidFill>
                  <a:srgbClr val="94A130"/>
                </a:solidFill>
              </a:rPr>
              <a:t>With </a:t>
            </a:r>
            <a:r>
              <a:rPr lang="en-US">
                <a:solidFill>
                  <a:srgbClr val="94A130"/>
                </a:solidFill>
              </a:rPr>
              <a:t>an</a:t>
            </a:r>
            <a:r>
              <a:rPr lang="en-US" dirty="0">
                <a:solidFill>
                  <a:srgbClr val="94A130"/>
                </a:solidFill>
              </a:rPr>
              <a:t> uptick to 2,00o in October...</a:t>
            </a:r>
          </a:p>
        </p:txBody>
      </p:sp>
      <p:pic>
        <p:nvPicPr>
          <p:cNvPr id="8" name="Picture 7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CA1EF405-123F-76B8-67EC-A3672AE470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1617" y="3626725"/>
            <a:ext cx="4276923" cy="298446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BBC2EDB-B3CC-BBA0-55A6-70F86320B797}"/>
              </a:ext>
            </a:extLst>
          </p:cNvPr>
          <p:cNvSpPr txBox="1"/>
          <p:nvPr/>
        </p:nvSpPr>
        <p:spPr>
          <a:xfrm>
            <a:off x="7197586" y="1250673"/>
            <a:ext cx="7139609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accent1">
                    <a:lumMod val="76000"/>
                  </a:schemeClr>
                </a:solidFill>
              </a:rPr>
              <a:t>"Average </a:t>
            </a:r>
            <a:r>
              <a:rPr lang="en-US">
                <a:solidFill>
                  <a:schemeClr val="accent1">
                    <a:lumMod val="76000"/>
                  </a:schemeClr>
                </a:solidFill>
              </a:rPr>
              <a:t>Sales", category</a:t>
            </a:r>
            <a:r>
              <a:rPr lang="en-US" dirty="0">
                <a:solidFill>
                  <a:schemeClr val="accent1">
                    <a:lumMod val="76000"/>
                  </a:schemeClr>
                </a:solidFill>
              </a:rPr>
              <a:t>, region</a:t>
            </a:r>
          </a:p>
          <a:p>
            <a:endParaRPr lang="en-US" dirty="0">
              <a:solidFill>
                <a:schemeClr val="accent1">
                  <a:lumMod val="76000"/>
                </a:schemeClr>
              </a:solidFill>
            </a:endParaRPr>
          </a:p>
          <a:p>
            <a:r>
              <a:rPr lang="en-US">
                <a:solidFill>
                  <a:schemeClr val="accent1">
                    <a:lumMod val="76000"/>
                  </a:schemeClr>
                </a:solidFill>
              </a:rPr>
              <a:t> 32.05,"Apparel and Merchandise", East</a:t>
            </a:r>
            <a:r>
              <a:rPr lang="en-US" dirty="0">
                <a:solidFill>
                  <a:schemeClr val="accent1">
                    <a:lumMod val="76000"/>
                  </a:schemeClr>
                </a:solidFill>
              </a:rPr>
              <a:t> </a:t>
            </a:r>
          </a:p>
          <a:p>
            <a:r>
              <a:rPr lang="en-US">
                <a:solidFill>
                  <a:schemeClr val="accent1">
                    <a:lumMod val="76000"/>
                  </a:schemeClr>
                </a:solidFill>
              </a:rPr>
              <a:t>31.66,"Art Supplies", East</a:t>
            </a:r>
            <a:r>
              <a:rPr lang="en-US" dirty="0">
                <a:solidFill>
                  <a:schemeClr val="accent1">
                    <a:lumMod val="76000"/>
                  </a:schemeClr>
                </a:solidFill>
              </a:rPr>
              <a:t> </a:t>
            </a:r>
          </a:p>
          <a:p>
            <a:r>
              <a:rPr lang="en-US">
                <a:solidFill>
                  <a:schemeClr val="accent1">
                    <a:lumMod val="76000"/>
                  </a:schemeClr>
                </a:solidFill>
              </a:rPr>
              <a:t>28.85,"Books (General)",East </a:t>
            </a:r>
          </a:p>
          <a:p>
            <a:r>
              <a:rPr lang="en-US">
                <a:solidFill>
                  <a:schemeClr val="accent1">
                    <a:lumMod val="76000"/>
                  </a:schemeClr>
                </a:solidFill>
              </a:rPr>
              <a:t>10.01,"Stationery and Supplies", East</a:t>
            </a:r>
            <a:r>
              <a:rPr lang="en-US" dirty="0">
                <a:solidFill>
                  <a:schemeClr val="accent1">
                    <a:lumMod val="76000"/>
                  </a:schemeClr>
                </a:solidFill>
              </a:rPr>
              <a:t> </a:t>
            </a:r>
          </a:p>
          <a:p>
            <a:r>
              <a:rPr lang="en-US">
                <a:solidFill>
                  <a:schemeClr val="accent1">
                    <a:lumMod val="76000"/>
                  </a:schemeClr>
                </a:solidFill>
              </a:rPr>
              <a:t>472.37,"Technology &amp; Accessories", East</a:t>
            </a:r>
            <a:r>
              <a:rPr lang="en-US" dirty="0">
                <a:solidFill>
                  <a:schemeClr val="accent1">
                    <a:lumMod val="76000"/>
                  </a:schemeClr>
                </a:solidFill>
              </a:rPr>
              <a:t> </a:t>
            </a:r>
          </a:p>
          <a:p>
            <a:r>
              <a:rPr lang="en-US">
                <a:solidFill>
                  <a:schemeClr val="accent1">
                    <a:lumMod val="76000"/>
                  </a:schemeClr>
                </a:solidFill>
              </a:rPr>
              <a:t>173.22,"Textbooks",East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8643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664E7-2D48-F17A-6687-C83A7D9CE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981" y="797756"/>
            <a:ext cx="5590832" cy="1431310"/>
          </a:xfrm>
        </p:spPr>
        <p:txBody>
          <a:bodyPr/>
          <a:lstStyle/>
          <a:p>
            <a:r>
              <a:rPr lang="en-US" sz="4000"/>
              <a:t>Overview of</a:t>
            </a:r>
            <a:br>
              <a:rPr lang="en-US" sz="4000"/>
            </a:br>
            <a:r>
              <a:rPr lang="en-US" sz="4000"/>
              <a:t>categories that we sell: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CD065B9-A3EE-BF4E-7E50-CAA50B798F24}"/>
              </a:ext>
            </a:extLst>
          </p:cNvPr>
          <p:cNvSpPr txBox="1">
            <a:spLocks/>
          </p:cNvSpPr>
          <p:nvPr/>
        </p:nvSpPr>
        <p:spPr>
          <a:xfrm>
            <a:off x="6708359" y="1153724"/>
            <a:ext cx="3479717" cy="7192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/>
              <a:t>Most Popular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44814E-B6B6-8707-CBFD-53E10FB777B6}"/>
              </a:ext>
            </a:extLst>
          </p:cNvPr>
          <p:cNvSpPr txBox="1"/>
          <p:nvPr/>
        </p:nvSpPr>
        <p:spPr>
          <a:xfrm>
            <a:off x="832001" y="2242749"/>
            <a:ext cx="5096656" cy="29546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2800">
                <a:solidFill>
                  <a:schemeClr val="accent1">
                    <a:lumMod val="76000"/>
                  </a:schemeClr>
                </a:solidFill>
              </a:rPr>
              <a:t>Technology &amp; Accessories</a:t>
            </a:r>
            <a:endParaRPr lang="en-US"/>
          </a:p>
          <a:p>
            <a:pPr marL="457200" indent="-457200">
              <a:buFont typeface="Arial"/>
              <a:buChar char="•"/>
            </a:pPr>
            <a:r>
              <a:rPr lang="en-US" sz="2800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</a:rPr>
              <a:t>Textbooks</a:t>
            </a:r>
            <a:endParaRPr lang="en-US" sz="2800">
              <a:solidFill>
                <a:schemeClr val="accent1">
                  <a:lumMod val="76000"/>
                </a:schemeClr>
              </a:solidFill>
            </a:endParaRPr>
          </a:p>
          <a:p>
            <a:pPr marL="457200" indent="-457200">
              <a:buFont typeface="Arial"/>
              <a:buChar char="•"/>
            </a:pPr>
            <a:r>
              <a:rPr lang="en-US" sz="2800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</a:rPr>
              <a:t>Apparel and Merchandise</a:t>
            </a:r>
            <a:endParaRPr lang="en-US" sz="2800">
              <a:solidFill>
                <a:schemeClr val="accent1">
                  <a:lumMod val="76000"/>
                </a:schemeClr>
              </a:solidFill>
            </a:endParaRPr>
          </a:p>
          <a:p>
            <a:pPr marL="457200" indent="-457200">
              <a:buFont typeface="Arial"/>
              <a:buChar char="•"/>
            </a:pPr>
            <a:r>
              <a:rPr lang="en-US" sz="2800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</a:rPr>
              <a:t>Art Supplies</a:t>
            </a:r>
            <a:endParaRPr lang="en-US" sz="2800">
              <a:solidFill>
                <a:schemeClr val="accent1">
                  <a:lumMod val="76000"/>
                </a:schemeClr>
              </a:solidFill>
            </a:endParaRPr>
          </a:p>
          <a:p>
            <a:pPr marL="457200" indent="-457200">
              <a:buFont typeface="Arial"/>
              <a:buChar char="•"/>
            </a:pPr>
            <a:r>
              <a:rPr lang="en-US" sz="2800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</a:rPr>
              <a:t>Books (General)</a:t>
            </a:r>
            <a:endParaRPr lang="en-US" sz="2800">
              <a:solidFill>
                <a:schemeClr val="accent1">
                  <a:lumMod val="76000"/>
                </a:schemeClr>
              </a:solidFill>
            </a:endParaRPr>
          </a:p>
          <a:p>
            <a:pPr marL="457200" indent="-457200">
              <a:buFont typeface="Arial"/>
              <a:buChar char="•"/>
            </a:pPr>
            <a:r>
              <a:rPr lang="en-US" sz="2800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</a:rPr>
              <a:t>Stationery and Supplies</a:t>
            </a:r>
          </a:p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5B6E74-C5B1-BD07-C665-4CE9ED3F5D5A}"/>
              </a:ext>
            </a:extLst>
          </p:cNvPr>
          <p:cNvSpPr txBox="1"/>
          <p:nvPr/>
        </p:nvSpPr>
        <p:spPr>
          <a:xfrm>
            <a:off x="6749109" y="1876244"/>
            <a:ext cx="6096000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2800">
                <a:solidFill>
                  <a:schemeClr val="accent1">
                    <a:lumMod val="76000"/>
                  </a:schemeClr>
                </a:solidFill>
              </a:rPr>
              <a:t>Technology &amp; Accessories</a:t>
            </a:r>
            <a:endParaRPr lang="en-US"/>
          </a:p>
          <a:p>
            <a:pPr marL="457200" indent="-457200">
              <a:buFont typeface="Arial"/>
              <a:buChar char="•"/>
            </a:pPr>
            <a:r>
              <a:rPr lang="en-US" sz="2800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</a:rPr>
              <a:t>Textbooks</a:t>
            </a:r>
            <a:endParaRPr lang="en-US" sz="2800">
              <a:solidFill>
                <a:schemeClr val="accent1">
                  <a:lumMod val="76000"/>
                </a:schemeClr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7BAD675-7BFA-399E-E1DC-D6617D893A92}"/>
              </a:ext>
            </a:extLst>
          </p:cNvPr>
          <p:cNvSpPr txBox="1">
            <a:spLocks/>
          </p:cNvSpPr>
          <p:nvPr/>
        </p:nvSpPr>
        <p:spPr>
          <a:xfrm>
            <a:off x="6748632" y="3163326"/>
            <a:ext cx="3442242" cy="5818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/>
              <a:t>Least Popular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AA70FD-BE3B-72FD-BEFC-12FC648F6295}"/>
              </a:ext>
            </a:extLst>
          </p:cNvPr>
          <p:cNvSpPr txBox="1"/>
          <p:nvPr/>
        </p:nvSpPr>
        <p:spPr>
          <a:xfrm>
            <a:off x="6802011" y="3792646"/>
            <a:ext cx="4482250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2800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</a:rPr>
              <a:t>Books (General)</a:t>
            </a:r>
            <a:endParaRPr lang="en-US" sz="2800">
              <a:solidFill>
                <a:schemeClr val="accent1">
                  <a:lumMod val="76000"/>
                </a:schemeClr>
              </a:solidFill>
            </a:endParaRPr>
          </a:p>
          <a:p>
            <a:pPr marL="457200" indent="-457200">
              <a:buFont typeface="Arial"/>
              <a:buChar char="•"/>
            </a:pPr>
            <a:r>
              <a:rPr lang="en-US" sz="2800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</a:rPr>
              <a:t>Stationery Supplies</a:t>
            </a:r>
          </a:p>
        </p:txBody>
      </p:sp>
    </p:spTree>
    <p:extLst>
      <p:ext uri="{BB962C8B-B14F-4D97-AF65-F5344CB8AC3E}">
        <p14:creationId xmlns:p14="http://schemas.microsoft.com/office/powerpoint/2010/main" val="16815260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D2731A-F807-6861-04E0-195B875E638F}"/>
              </a:ext>
            </a:extLst>
          </p:cNvPr>
          <p:cNvSpPr txBox="1"/>
          <p:nvPr/>
        </p:nvSpPr>
        <p:spPr>
          <a:xfrm>
            <a:off x="566740" y="4917532"/>
            <a:ext cx="9868721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400" dirty="0">
                <a:solidFill>
                  <a:schemeClr val="accent1">
                    <a:lumMod val="76000"/>
                  </a:schemeClr>
                </a:solidFill>
                <a:latin typeface="Garamond"/>
              </a:rPr>
              <a:t>Which is </a:t>
            </a:r>
            <a:r>
              <a:rPr lang="en-US" sz="5400">
                <a:solidFill>
                  <a:schemeClr val="accent1">
                    <a:lumMod val="76000"/>
                  </a:schemeClr>
                </a:solidFill>
                <a:latin typeface="Garamond"/>
              </a:rPr>
              <a:t>interesting...</a:t>
            </a:r>
            <a:r>
              <a:rPr lang="en-US" sz="5400">
                <a:solidFill>
                  <a:schemeClr val="accent1">
                    <a:lumMod val="76000"/>
                  </a:schemeClr>
                </a:solidFill>
                <a:latin typeface="Lucida San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77471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70644D95-6E77-5576-DF47-777351AAE1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2907" y="1708659"/>
            <a:ext cx="7343775" cy="28670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D15CE7F-5470-614C-C722-4F35D1626CEB}"/>
              </a:ext>
            </a:extLst>
          </p:cNvPr>
          <p:cNvSpPr txBox="1"/>
          <p:nvPr/>
        </p:nvSpPr>
        <p:spPr>
          <a:xfrm>
            <a:off x="786984" y="668312"/>
            <a:ext cx="9881016" cy="10464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b="0" i="0" u="none" strike="noStrike" baseline="0">
                <a:solidFill>
                  <a:srgbClr val="A6B727"/>
                </a:solidFill>
                <a:latin typeface="Corbel"/>
              </a:rPr>
              <a:t>Performance Sales Rank by Store</a:t>
            </a:r>
            <a:r>
              <a:rPr lang="en-US" sz="4400">
                <a:solidFill>
                  <a:srgbClr val="A6B727"/>
                </a:solidFill>
                <a:latin typeface="Corbel"/>
              </a:rPr>
              <a:t> </a:t>
            </a:r>
            <a:r>
              <a:rPr lang="en-US" sz="4400" err="1">
                <a:solidFill>
                  <a:srgbClr val="A6B727"/>
                </a:solidFill>
                <a:latin typeface="Corbel"/>
              </a:rPr>
              <a:t>cont.</a:t>
            </a:r>
            <a:endParaRPr lang="en-US" err="1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3715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A5863-AE5A-1C7E-26A5-2D917154E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1262" y="722026"/>
            <a:ext cx="4628963" cy="1268918"/>
          </a:xfrm>
        </p:spPr>
        <p:txBody>
          <a:bodyPr/>
          <a:lstStyle/>
          <a:p>
            <a:pPr algn="ctr"/>
            <a:r>
              <a:rPr lang="en-US"/>
              <a:t>Recommendations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592F48-0A8E-5553-DC49-3E43F38FC121}"/>
              </a:ext>
            </a:extLst>
          </p:cNvPr>
          <p:cNvSpPr/>
          <p:nvPr/>
        </p:nvSpPr>
        <p:spPr>
          <a:xfrm>
            <a:off x="1077628" y="452517"/>
            <a:ext cx="9936080" cy="1487179"/>
          </a:xfrm>
          <a:prstGeom prst="rect">
            <a:avLst/>
          </a:prstGeom>
          <a:noFill/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077CDE-068A-B55A-2689-F4736DBFA76F}"/>
              </a:ext>
            </a:extLst>
          </p:cNvPr>
          <p:cNvSpPr/>
          <p:nvPr/>
        </p:nvSpPr>
        <p:spPr>
          <a:xfrm>
            <a:off x="1221401" y="596290"/>
            <a:ext cx="9936080" cy="1487179"/>
          </a:xfrm>
          <a:prstGeom prst="rect">
            <a:avLst/>
          </a:prstGeom>
          <a:noFill/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CEA21F-F006-D2E7-C06F-921C36649DA8}"/>
              </a:ext>
            </a:extLst>
          </p:cNvPr>
          <p:cNvSpPr/>
          <p:nvPr/>
        </p:nvSpPr>
        <p:spPr>
          <a:xfrm>
            <a:off x="1365175" y="740064"/>
            <a:ext cx="9936080" cy="1487179"/>
          </a:xfrm>
          <a:prstGeom prst="rect">
            <a:avLst/>
          </a:prstGeom>
          <a:noFill/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4B9757-9F6E-9598-6769-99091C9F1E99}"/>
              </a:ext>
            </a:extLst>
          </p:cNvPr>
          <p:cNvSpPr txBox="1"/>
          <p:nvPr/>
        </p:nvSpPr>
        <p:spPr>
          <a:xfrm>
            <a:off x="778565" y="3743739"/>
            <a:ext cx="10767390" cy="8156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aseline="0" dirty="0">
                <a:solidFill>
                  <a:srgbClr val="7E8B1E"/>
                </a:solidFill>
                <a:latin typeface="Corbel"/>
                <a:ea typeface="Segoe UI"/>
                <a:cs typeface="Segoe UI"/>
              </a:rPr>
              <a:t>We should </a:t>
            </a:r>
            <a:r>
              <a:rPr lang="en-US" dirty="0">
                <a:solidFill>
                  <a:srgbClr val="7E8B1E"/>
                </a:solidFill>
                <a:latin typeface="Corbel"/>
                <a:ea typeface="Segoe UI"/>
                <a:cs typeface="Segoe UI"/>
              </a:rPr>
              <a:t>test strategies to increase profitability by providing</a:t>
            </a:r>
            <a:r>
              <a:rPr lang="en-US" baseline="0" dirty="0">
                <a:solidFill>
                  <a:srgbClr val="7E8B1E"/>
                </a:solidFill>
                <a:latin typeface="Corbel"/>
                <a:ea typeface="Segoe UI"/>
                <a:cs typeface="Segoe UI"/>
              </a:rPr>
              <a:t> more visibility and promotions to Books </a:t>
            </a:r>
            <a:r>
              <a:rPr lang="en-US" baseline="0">
                <a:solidFill>
                  <a:srgbClr val="7E8B1E"/>
                </a:solidFill>
                <a:latin typeface="Corbel"/>
                <a:ea typeface="Segoe UI"/>
                <a:cs typeface="Segoe UI"/>
              </a:rPr>
              <a:t>(General)</a:t>
            </a:r>
            <a:r>
              <a:rPr lang="en-US">
                <a:latin typeface="Corbel"/>
                <a:ea typeface="Segoe UI"/>
                <a:cs typeface="Segoe UI"/>
              </a:rPr>
              <a:t>​ </a:t>
            </a:r>
            <a:r>
              <a:rPr lang="en-US">
                <a:solidFill>
                  <a:schemeClr val="accent1">
                    <a:lumMod val="76000"/>
                  </a:schemeClr>
                </a:solidFill>
                <a:latin typeface="Corbel"/>
                <a:ea typeface="Segoe UI"/>
                <a:cs typeface="Segoe UI"/>
              </a:rPr>
              <a:t>and </a:t>
            </a:r>
            <a:r>
              <a:rPr lang="en-US">
                <a:solidFill>
                  <a:srgbClr val="7E8B1E"/>
                </a:solidFill>
                <a:latin typeface="Corbel"/>
                <a:ea typeface="Segoe UI"/>
                <a:cs typeface="Segoe UI"/>
              </a:rPr>
              <a:t>Stationery</a:t>
            </a:r>
            <a:r>
              <a:rPr lang="en-US" baseline="0">
                <a:solidFill>
                  <a:srgbClr val="7E8B1E"/>
                </a:solidFill>
                <a:latin typeface="Corbel"/>
                <a:ea typeface="Segoe UI"/>
                <a:cs typeface="Segoe UI"/>
              </a:rPr>
              <a:t> Supplies by cross-selling during the Fall.</a:t>
            </a:r>
            <a:endParaRPr lang="en-US"/>
          </a:p>
          <a:p>
            <a:pPr algn="ctr"/>
            <a:endParaRPr lang="en-US" sz="1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4A6954-5A88-5ECE-F227-93CCCAC4F4A9}"/>
              </a:ext>
            </a:extLst>
          </p:cNvPr>
          <p:cNvSpPr txBox="1"/>
          <p:nvPr/>
        </p:nvSpPr>
        <p:spPr>
          <a:xfrm>
            <a:off x="778564" y="4555434"/>
            <a:ext cx="9723783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accent1">
                    <a:lumMod val="76000"/>
                  </a:schemeClr>
                </a:solidFill>
              </a:rPr>
              <a:t>Example: 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accent1">
                    <a:lumMod val="76000"/>
                  </a:schemeClr>
                </a:solidFill>
              </a:rPr>
              <a:t>Focusing</a:t>
            </a:r>
            <a:r>
              <a:rPr lang="en-US" dirty="0">
                <a:solidFill>
                  <a:schemeClr val="accent1">
                    <a:lumMod val="76000"/>
                  </a:schemeClr>
                </a:solidFill>
              </a:rPr>
              <a:t> on timing promotions (back-to-school, semester starts) </a:t>
            </a:r>
            <a:endParaRPr lang="en-US">
              <a:solidFill>
                <a:schemeClr val="accent1">
                  <a:lumMod val="76000"/>
                </a:schemeClr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accent1">
                    <a:lumMod val="76000"/>
                  </a:schemeClr>
                </a:solidFill>
              </a:rPr>
              <a:t>Offer bundles or discounts during peak periods </a:t>
            </a:r>
            <a:endParaRPr lang="en-US" dirty="0">
              <a:solidFill>
                <a:schemeClr val="accent1">
                  <a:lumMod val="76000"/>
                </a:schemeClr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accent1">
                    <a:lumMod val="76000"/>
                  </a:schemeClr>
                </a:solidFill>
              </a:rPr>
              <a:t> Selling notebooks with textbooks </a:t>
            </a:r>
            <a:endParaRPr lang="en-US" dirty="0">
              <a:solidFill>
                <a:schemeClr val="accent1">
                  <a:lumMod val="76000"/>
                </a:schemeClr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accent1">
                    <a:lumMod val="76000"/>
                  </a:schemeClr>
                </a:solidFill>
              </a:rPr>
              <a:t>Selling art supplies with tablets </a:t>
            </a:r>
            <a:endParaRPr lang="en-US" dirty="0">
              <a:solidFill>
                <a:schemeClr val="accent1">
                  <a:lumMod val="76000"/>
                </a:schemeClr>
              </a:solidFill>
            </a:endParaRPr>
          </a:p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0EA466-1310-35DD-5963-D220454CDBE0}"/>
              </a:ext>
            </a:extLst>
          </p:cNvPr>
          <p:cNvSpPr txBox="1"/>
          <p:nvPr/>
        </p:nvSpPr>
        <p:spPr>
          <a:xfrm>
            <a:off x="745435" y="2410239"/>
            <a:ext cx="1082536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accent1">
                    <a:lumMod val="76000"/>
                  </a:schemeClr>
                </a:solidFill>
              </a:rPr>
              <a:t>While Technology &amp; Accessories and Textbooks are the primary revenue drivers and should remain a focus for growth, the remaining categories contribute a </a:t>
            </a:r>
            <a:r>
              <a:rPr lang="en-US">
                <a:solidFill>
                  <a:schemeClr val="accent1">
                    <a:lumMod val="76000"/>
                  </a:schemeClr>
                </a:solidFill>
              </a:rPr>
              <a:t>small</a:t>
            </a:r>
            <a:r>
              <a:rPr lang="en-US" dirty="0">
                <a:solidFill>
                  <a:schemeClr val="accent1">
                    <a:lumMod val="76000"/>
                  </a:schemeClr>
                </a:solidFill>
              </a:rPr>
              <a:t> percentage of total sales. This suggests an opportunity to improve performance through better product placement, targeted promotions, or inventory adjustments.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585855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Basis</vt:lpstr>
      <vt:lpstr>Sales projections: East Region</vt:lpstr>
      <vt:lpstr>PowerPoint Presentation</vt:lpstr>
      <vt:lpstr>We'll be looking at the data from 1/1/2022 - 12-31-2025</vt:lpstr>
      <vt:lpstr>Total Revenue For East Region</vt:lpstr>
      <vt:lpstr>Total Revenue Comparison by State vs. Region</vt:lpstr>
      <vt:lpstr>Month by Month </vt:lpstr>
      <vt:lpstr>PowerPoint Presentation</vt:lpstr>
      <vt:lpstr>Number of transactions per month</vt:lpstr>
      <vt:lpstr>Overview of categories that we sell:</vt:lpstr>
      <vt:lpstr>PowerPoint Presentation</vt:lpstr>
      <vt:lpstr>PowerPoint Presentation</vt:lpstr>
      <vt:lpstr>Recommendations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158</cp:revision>
  <dcterms:created xsi:type="dcterms:W3CDTF">2026-04-30T16:58:20Z</dcterms:created>
  <dcterms:modified xsi:type="dcterms:W3CDTF">2026-05-01T05:57:01Z</dcterms:modified>
</cp:coreProperties>
</file>